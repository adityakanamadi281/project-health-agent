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dPt>
            <c:idx val="0"/>
            <c:spPr>
              <a:solidFill>
                <a:srgbClr val="6B6B6B"/>
              </a:solidFill>
            </c:spPr>
          </c:dPt>
          <c:cat>
            <c:strRef>
              <c:f>Sheet1!$A$2:$A$2</c:f>
              <c:strCache>
                <c:ptCount val="1"/>
                <c:pt idx="0">
                  <c:v>Red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Portfolio Health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</a:rPr>
              <a:t>Professional Services — Monthly Synthesis ·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ADCFC"/>
                </a:solidFill>
              </a:rPr>
              <a:t>Both Zycus S2P projects are in red health, with significant schedule delays and a high blocker count, indicating urgent corrective action is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</a:rPr>
              <a:t>Portfolio at a Glance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280160"/>
          <a:ext cx="57607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76656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</a:rPr>
              <a:t>Portfolio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2A2A"/>
                </a:solidFill>
              </a:defRPr>
            </a:pPr>
            <a:r>
              <a:t>•  2 active project(s) assessed this cycle</a:t>
            </a:r>
          </a:p>
          <a:p>
            <a:pPr>
              <a:spcAft>
                <a:spcPts val="800"/>
              </a:spcAft>
              <a:defRPr sz="1400">
                <a:solidFill>
                  <a:srgbClr val="2A2A2A"/>
                </a:solidFill>
              </a:defRPr>
            </a:pPr>
            <a:r>
              <a:t>•  Average schedule variance: -41.5 days vs. baseline</a:t>
            </a:r>
          </a:p>
          <a:p>
            <a:pPr>
              <a:spcAft>
                <a:spcPts val="800"/>
              </a:spcAft>
              <a:defRPr sz="1400">
                <a:solidFill>
                  <a:srgbClr val="2A2A2A"/>
                </a:solidFill>
              </a:defRPr>
            </a:pPr>
            <a:r>
              <a:t>•  Average stakeholder sentiment: -0.14 (-1 to +1)</a:t>
            </a:r>
          </a:p>
          <a:p>
            <a:pPr>
              <a:spcAft>
                <a:spcPts val="800"/>
              </a:spcAft>
              <a:defRPr sz="1400">
                <a:solidFill>
                  <a:srgbClr val="2A2A2A"/>
                </a:solidFill>
              </a:defRPr>
            </a:pPr>
            <a:r>
              <a:t>•  Recurring blocker themes: workshop, training, integration</a:t>
            </a:r>
          </a:p>
          <a:p>
            <a:pPr>
              <a:spcAft>
                <a:spcPts val="800"/>
              </a:spcAft>
              <a:defRPr sz="1400">
                <a:solidFill>
                  <a:srgbClr val="2A2A2A"/>
                </a:solidFill>
              </a:defRPr>
            </a:pPr>
            <a:r>
              <a:t>•  PM-vs-signal perception gap on: Zycus - Titan S2P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</a:rPr>
              <a:t>Only one weekly snapshot has been recorded so far for this portfolio, so week-over-week trend movement cannot be computed yet — insights below are based on the current cross-project snapshot. Run the agent on subsequent weeks (see README) to unlock true time-trend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</a:rPr>
              <a:t>Trends Across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A2A2A"/>
                </a:solidFill>
              </a:defRPr>
            </a:pPr>
            <a:r>
              <a:t>•  Both projects are red with &gt;10% task delays</a:t>
            </a:r>
          </a:p>
          <a:p>
            <a:pPr>
              <a:spcAft>
                <a:spcPts val="1400"/>
              </a:spcAft>
              <a:defRPr sz="1700">
                <a:solidFill>
                  <a:srgbClr val="2A2A2A"/>
                </a:solidFill>
              </a:defRPr>
            </a:pPr>
            <a:r>
              <a:t>•  Average schedule variance of -41.5 days signals widespread lag</a:t>
            </a:r>
          </a:p>
          <a:p>
            <a:pPr>
              <a:spcAft>
                <a:spcPts val="1400"/>
              </a:spcAft>
              <a:defRPr sz="1700">
                <a:solidFill>
                  <a:srgbClr val="2A2A2A"/>
                </a:solidFill>
              </a:defRPr>
            </a:pPr>
            <a:r>
              <a:t>•  Workshop-related blockers dominate the blocker list (4 instances)</a:t>
            </a:r>
          </a:p>
          <a:p>
            <a:pPr>
              <a:spcAft>
                <a:spcPts val="1400"/>
              </a:spcAft>
              <a:defRPr sz="1700">
                <a:solidFill>
                  <a:srgbClr val="2A2A2A"/>
                </a:solidFill>
              </a:defRPr>
            </a:pPr>
            <a:r>
              <a:t>•  Titan project shows a perception gap and 0.7 milestone completion rate</a:t>
            </a:r>
          </a:p>
          <a:p>
            <a:pPr>
              <a:spcAft>
                <a:spcPts val="1400"/>
              </a:spcAft>
              <a:defRPr sz="1700">
                <a:solidFill>
                  <a:srgbClr val="2A2A2A"/>
                </a:solidFill>
              </a:defRPr>
            </a:pPr>
            <a:r>
              <a:t>•  Negative sentiment (-0.14) reflects stakeholder concerns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</a:rPr>
              <a:t>Emerging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C0392B"/>
                </a:solidFill>
              </a:defRPr>
            </a:pPr>
            <a:r>
              <a:t>•  Unresolved blockers (301 total) could stall critical deliverables</a:t>
            </a:r>
          </a:p>
          <a:p>
            <a:pPr>
              <a:spcAft>
                <a:spcPts val="1400"/>
              </a:spcAft>
              <a:defRPr sz="1700">
                <a:solidFill>
                  <a:srgbClr val="C0392B"/>
                </a:solidFill>
              </a:defRPr>
            </a:pPr>
            <a:r>
              <a:t>•  Schedule lag of 81 days on Titan may push go‑live beyond target</a:t>
            </a:r>
          </a:p>
          <a:p>
            <a:pPr>
              <a:spcAft>
                <a:spcPts val="1400"/>
              </a:spcAft>
              <a:defRPr sz="1700">
                <a:solidFill>
                  <a:srgbClr val="C0392B"/>
                </a:solidFill>
              </a:defRPr>
            </a:pPr>
            <a:r>
              <a:t>•  Perception gap in Titan risks stakeholder disengagement</a:t>
            </a:r>
          </a:p>
          <a:p>
            <a:pPr>
              <a:spcAft>
                <a:spcPts val="1400"/>
              </a:spcAft>
              <a:defRPr sz="1700">
                <a:solidFill>
                  <a:srgbClr val="C0392B"/>
                </a:solidFill>
              </a:defRPr>
            </a:pPr>
            <a:r>
              <a:t>•  Negative sentiment may erode trust and lead to scope creep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</a:rPr>
              <a:t>Project-by-Project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Schedule Variance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Zycus - UniSan S2P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C0392B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The project is in a red health state because more than 10 % of tasks have slipped past their baseline, with a full 100 % of tasks delayed.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Zycus - Titan S2P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C0392B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-81d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The project is in a Red status because more than 10 % of tasks have slipped past baseline, with 64 % of tasks behind schedule and the worst task 81 days late in Phase 2 P2P.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CADCFC"/>
                </a:solidFill>
              </a:defRPr>
            </a:pPr>
            <a:r>
              <a:t>•  Schedule a cross‑functional workshop to triage and resolve the 301 open blockers</a:t>
            </a:r>
          </a:p>
          <a:p>
            <a:pPr>
              <a:spcAft>
                <a:spcPts val="1600"/>
              </a:spcAft>
              <a:defRPr sz="1800">
                <a:solidFill>
                  <a:srgbClr val="CADCFC"/>
                </a:solidFill>
              </a:defRPr>
            </a:pPr>
            <a:r>
              <a:t>•  Allocate additional resources to Titan to accelerate backlog and reduce 81‑day delay</a:t>
            </a:r>
          </a:p>
          <a:p>
            <a:pPr>
              <a:spcAft>
                <a:spcPts val="1600"/>
              </a:spcAft>
              <a:defRPr sz="1800">
                <a:solidFill>
                  <a:srgbClr val="CADCFC"/>
                </a:solidFill>
              </a:defRPr>
            </a:pPr>
            <a:r>
              <a:t>•  Implement a weekly milestone review cadence to monitor progress</a:t>
            </a:r>
          </a:p>
          <a:p>
            <a:pPr>
              <a:spcAft>
                <a:spcPts val="1600"/>
              </a:spcAft>
              <a:defRPr sz="1800">
                <a:solidFill>
                  <a:srgbClr val="CADCFC"/>
                </a:solidFill>
              </a:defRPr>
            </a:pPr>
            <a:r>
              <a:t>•  Engage Titan stakeholders in a perception alignment session to close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</a:rPr>
              <a:t>Narrative source: llm  ·  Generated by the Project Health Reporting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